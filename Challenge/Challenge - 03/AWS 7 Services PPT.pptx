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4" r:id="rId9"/>
    <p:sldId id="263" r:id="rId10"/>
    <p:sldId id="264" r:id="rId11"/>
    <p:sldId id="265" r:id="rId12"/>
    <p:sldId id="266" r:id="rId13"/>
    <p:sldId id="267" r:id="rId14"/>
    <p:sldId id="268" r:id="rId15"/>
    <p:sldId id="305" r:id="rId16"/>
    <p:sldId id="269" r:id="rId17"/>
    <p:sldId id="270" r:id="rId18"/>
    <p:sldId id="271" r:id="rId19"/>
    <p:sldId id="272" r:id="rId20"/>
    <p:sldId id="273" r:id="rId21"/>
    <p:sldId id="274" r:id="rId22"/>
    <p:sldId id="306" r:id="rId23"/>
    <p:sldId id="275" r:id="rId24"/>
    <p:sldId id="276" r:id="rId25"/>
    <p:sldId id="277" r:id="rId26"/>
    <p:sldId id="278" r:id="rId27"/>
    <p:sldId id="307" r:id="rId28"/>
    <p:sldId id="279" r:id="rId29"/>
    <p:sldId id="308" r:id="rId30"/>
    <p:sldId id="280" r:id="rId31"/>
    <p:sldId id="281" r:id="rId32"/>
    <p:sldId id="282" r:id="rId33"/>
    <p:sldId id="288" r:id="rId34"/>
    <p:sldId id="283" r:id="rId35"/>
    <p:sldId id="284" r:id="rId36"/>
    <p:sldId id="285" r:id="rId37"/>
    <p:sldId id="309" r:id="rId38"/>
    <p:sldId id="286" r:id="rId39"/>
    <p:sldId id="287" r:id="rId40"/>
    <p:sldId id="289" r:id="rId41"/>
    <p:sldId id="290" r:id="rId42"/>
    <p:sldId id="291" r:id="rId43"/>
    <p:sldId id="292" r:id="rId44"/>
    <p:sldId id="310" r:id="rId45"/>
    <p:sldId id="293" r:id="rId46"/>
    <p:sldId id="294" r:id="rId47"/>
    <p:sldId id="295" r:id="rId48"/>
    <p:sldId id="296" r:id="rId49"/>
    <p:sldId id="297" r:id="rId50"/>
    <p:sldId id="298" r:id="rId51"/>
    <p:sldId id="311" r:id="rId52"/>
    <p:sldId id="299" r:id="rId53"/>
    <p:sldId id="300" r:id="rId54"/>
    <p:sldId id="301" r:id="rId55"/>
    <p:sldId id="302" r:id="rId56"/>
    <p:sldId id="303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6/8/2025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2BD1-A1E8-4073-9DC4-79B2549476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Essential AWS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5A045-3CF1-4FFF-AE9E-48881EF4C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Comprehensive Overview of Core AWS Services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186AC-D5AF-489B-B2E7-FB6646F09CA7}"/>
              </a:ext>
            </a:extLst>
          </p:cNvPr>
          <p:cNvSpPr txBox="1"/>
          <p:nvPr/>
        </p:nvSpPr>
        <p:spPr>
          <a:xfrm>
            <a:off x="7920994" y="5784854"/>
            <a:ext cx="4119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PRESENTED BY: SYED MUBEEN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22341D-4388-47DE-82CE-07D91C7C6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37" y="2708522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4461C18-6360-4762-8D8D-0A4A15892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369" y="2708522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3F2C715-B6F9-4E59-B802-8D75214D6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01" y="2708522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3A9E295-CDD5-4472-8C6B-BB969990C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233" y="2746252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87824B2-D4FF-450C-8217-BC6D055E1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665" y="2817689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E89B8F3C-B0A2-4B86-8CDB-68FB90144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097" y="2779959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5886DED2-2B72-4A63-A2EC-60DD14275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910" y="2819278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11065182-3627-4C98-8DD5-8FB8C2F8F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877" y="2852769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E8B1986D-137A-404F-8103-7DDBBE2BD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23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5027-B34C-4A8E-9C7B-92397D92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4FEB0D-2EA3-48C6-8C45-FC2ED2AFFA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0933" y="2447680"/>
            <a:ext cx="955237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Lambda: Serverless Compute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API Gateway: Fronting Your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KMS: Secure Key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SQS &amp; Amazon MQ: Messaging &amp; Queuing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Secrets Manager: Centralized Credential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WAF: Protecting Your Web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Systems Manager Parameter Store: Configuration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5A2B259E-A096-4E6F-BFEB-286851F8E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35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FBD7-4729-4E85-983C-3747ED0222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15293" y="5556389"/>
            <a:ext cx="8761413" cy="706438"/>
          </a:xfrm>
        </p:spPr>
        <p:txBody>
          <a:bodyPr/>
          <a:lstStyle/>
          <a:p>
            <a:pPr algn="ctr"/>
            <a:r>
              <a:rPr lang="en-US" altLang="en-US" sz="3200" b="1" dirty="0">
                <a:solidFill>
                  <a:schemeClr val="tx1"/>
                </a:solidFill>
                <a:latin typeface="Algerian" panose="04020705040A02060702" pitchFamily="82" charset="0"/>
              </a:rPr>
              <a:t>AWS Lambda: Serverless Compute </a:t>
            </a:r>
            <a:b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DF95BD-9BBC-4FFF-B6BE-777B38778CA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509" y="595173"/>
            <a:ext cx="53086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D572646A-3F30-420B-A22B-B0CD5471B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45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EFCA-93FE-40F1-9267-E1C416E2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Lambda: Event-Driven Serverless Compute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9ACDAE-B329-4E63-B78F-428BE2EED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80363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Lambda: Event-Driven Serverless Compute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serverless compute service that runs your code in response to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events and automatically manages the underlying compute resources.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code without provisioning or managing servers.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 automatically and pay only for compute time consumed.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event-driven architectures.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"Functions as a Service"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paradigm.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0C36D6A-B1A7-4F65-B7CB-9A5DCAA65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05" y="14287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2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002B-DEFC-46EB-88B9-743CFD17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in Action: Events, Functions, &amp; Runtimes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90FF3F-AE7B-485F-8468-109F1A4B7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91"/>
            <a:ext cx="107551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Triggers the Lambda function (e.g., S3 upload, DynamoDB stream,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Gateway request, CloudWatch event).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Your code written in a supported language (Python, Node.js, Java, Go, C#, Ruby).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 Environment: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Isolated runtime environment created on demand.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concurrent executions.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Cold Starts: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Initial latency when a new execution environment is provisioned.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93D31F4-F8C4-443D-83C4-24F8D5494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05" y="14287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948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4514-35E4-44BE-ADB6-8F1FF6A8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Customizing Lambda: Configuration Options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97A2DF-F81B-4E61-9016-A437C2E7DD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742068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Configurable RAM (influences CPU and cost).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Maximum execution duration.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configuration settings to your function.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VPC Connectivity: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functions to resources within your VPC.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Share code, libraries, and custom runtimes.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Dead-Letter Queues (DLQs):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failed asynchronous invocations.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0542CE6-2FF8-429F-B11C-AE4DB237C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05" y="14287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179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9CD4-E46D-4700-9D9F-6BDDE9ED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Versatile Workloads: Where Lambda Shines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029ED2-2F5D-4A43-ACC6-DB02BCD1C0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1062662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for web/mobile apps (with API Gateway).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stream processing (Kinesis, DynamoDB Streams), S3 event processing.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Automation: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Scheduled tasks (CloudWatch Events),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Automation: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Responding to operational events, infrastructure management.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Backends: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Processing data from IoT devices.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6586A6D-F5B7-4062-ACC9-C3815FA86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05" y="14287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085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A7D7-9952-4558-9EA2-A9675D48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Lambda Works &amp; Key Concepts</a:t>
            </a:r>
            <a:endParaRPr lang="en-IN" dirty="0"/>
          </a:p>
        </p:txBody>
      </p:sp>
      <p:pic>
        <p:nvPicPr>
          <p:cNvPr id="40962" name="Picture 2" descr="AWS Lambda | AWS Architecture Blog">
            <a:extLst>
              <a:ext uri="{FF2B5EF4-FFF2-40B4-BE49-F238E27FC236}">
                <a16:creationId xmlns:a16="http://schemas.microsoft.com/office/drawing/2014/main" id="{E31551EE-4A0F-4558-8AC7-C4C16B55A3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474" y="2603500"/>
            <a:ext cx="7257865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931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FB80-BB3B-4DDE-9387-F4698CC1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Optimizing Lambda: Performance &amp; Cost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A9D2CA-D1B4-446D-A898-89C757DDCF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91"/>
            <a:ext cx="101649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Idempotency: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functions to handle duplicate events gracefully.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Small, Single-Purpose Functions: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 the single responsibility principle.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 &amp;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CloudWatch Logs/Metrics for visibility.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 memory and execution duration; leverage Provisioned Concurrency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latency-sensitive applications.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Grant least privilege IAM roles.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4A98B9D-1633-4011-8234-1972F8C3F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05" y="14287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58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AF1FF9A1-8B15-4B90-A52D-B8D1727A9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7FBE8-C60F-43FF-9547-2F3B608B2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757" y="1005396"/>
            <a:ext cx="5078485" cy="484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2517E9-1949-423F-B4D6-997DFA09B31A}"/>
              </a:ext>
            </a:extLst>
          </p:cNvPr>
          <p:cNvSpPr/>
          <p:nvPr/>
        </p:nvSpPr>
        <p:spPr>
          <a:xfrm>
            <a:off x="1641700" y="5852604"/>
            <a:ext cx="93426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AWS API Gateway (Fronting Your Services)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48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1D54-D0DA-47C4-91D5-B102EA1C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API Gateway: The Front Door to Your Applications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C91A39-BF12-438F-A3B1-8EBE0E2557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1019073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fully managed service that makes it easy for developers to create, publish, maintain,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monitor, and secure APIs at any scale.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unified API endpoint for various backend services (Lambda, EC2, HTTP endpoints).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request routing, authentication, authorization, throttling, and caching.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security and performance of APIs.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Acts as a "reverse proxy" for your APIs.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Suggested Image: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Gateway logo, a diagram with a gateway acting as a central hub.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04900-44C6-4F00-B855-939412C00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027" y="17838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43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14E7-2AC0-4664-B32E-9941DF28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Diverse APIs: REST, HTTP, and WebSocket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41C002-A3D1-4087-8D5A-6BA2FA2701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107636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traditional HTTP APIs with full feature sets (request/response mapping,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 authorizers).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APIs: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for low latency and cost-effectiveness, simpler features for common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use cases.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 APIs: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two-way communication for real-time applications (chat apps, dashboards).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Request/Response Transformation, Caching, Throttling, Custom Domain Names, API Keys.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49D38-C2A1-496B-AAE6-2A868BB65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027" y="17838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97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893B-A630-43D0-80CC-F43FD9D1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Securing &amp; Observing Your APIs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C32136-03B6-429A-AF09-75D093375E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603491"/>
            <a:ext cx="89638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&amp; Authorization: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IAM roles/policies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Authorizers (Custom authorizers)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Cognito User Pools Authorizers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WAF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 against common web exploits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SSL/TLS: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Encrypted communication.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CloudWatch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Logs, metrics, and alarms for API usage and performance.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Logs: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logs of API requests.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88103-2FC9-47DE-BFB1-9E29B5382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027" y="17838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018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95BE-95ED-4E66-8301-02F85B74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Empowering Modern Application Architectures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5E63C3-1EEC-4804-AACA-169AF501B6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295988"/>
            <a:ext cx="960083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Serverless Backends: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mobile/web apps to Lambda functions.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Orchestration: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Aggregate multiple microservices into a single API.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Third-Party Integrations: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a clean API for partners or external consumers.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Applications: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chat applications, live dashboards (with WebSocket APIs).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C0780-03D1-4DCC-AFB8-4CFB29ED6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027" y="17838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512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1E72-21C3-4445-BBF9-721D37A9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API Gateway WORKS</a:t>
            </a:r>
          </a:p>
        </p:txBody>
      </p:sp>
      <p:pic>
        <p:nvPicPr>
          <p:cNvPr id="51202" name="Picture 2" descr="AWS API Gateway patterns for microservice architecture | by Oleksandr  Hanhaliuk | Medium">
            <a:extLst>
              <a:ext uri="{FF2B5EF4-FFF2-40B4-BE49-F238E27FC236}">
                <a16:creationId xmlns:a16="http://schemas.microsoft.com/office/drawing/2014/main" id="{368F9124-5082-49BA-843F-C851A7B873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774" y="2603499"/>
            <a:ext cx="7116625" cy="383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103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4375-C48D-4869-876B-63F0FE9C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Designing Robust &amp; Scalable APIs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2A092D-4D43-46D4-8E3A-8D338877C0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928497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stages or path segments for API versions.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consistent error responses.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Caching Strategy: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performance for static data.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Throttling Limits: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 your backend services from overload.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Privilege: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API Gateway's execution role has only necessary permissions.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API Usage: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 performance and identify bottlenecks.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327423-9C48-4601-BAA3-D7CDBD654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027" y="178386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266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FD7E1956-61F8-4364-BCE1-1F1582577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1D8D3D9-7171-4449-AC0D-FCE5045C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056" y="1520438"/>
            <a:ext cx="3781888" cy="381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5F5809-A878-461C-8649-4B7D33D8C35B}"/>
              </a:ext>
            </a:extLst>
          </p:cNvPr>
          <p:cNvSpPr/>
          <p:nvPr/>
        </p:nvSpPr>
        <p:spPr>
          <a:xfrm>
            <a:off x="2500356" y="5758321"/>
            <a:ext cx="77829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AWS KMS (Key Management Service)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53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88C5-D473-4A9E-A0A7-6715DEBF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KMS: Centralized Cryptographic Key Management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62BBB9-3071-4CDD-95A3-A02A06D68A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90"/>
            <a:ext cx="975472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managed service that makes it easy for you to create and control the encryption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keys used to encrypt your data.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the management of cryptographic keys at scale.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other AWS services for data encryption at rest and in transit.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audit trails for key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compliance with regulatory requirements.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Highly integrated with almost all AWS services. 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A6141DEB-4600-4FA2-8BD2-CD593015B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84" y="241300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566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E087-9366-4E93-8391-B2121185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KMS Keys: CMKs, Data Keys &amp; Envelope Encryption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4AD856-8656-4684-86E7-9D4A0DA36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1044279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Master Keys (CMKs):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Primary encryption keys managed by KMS.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Managed CMKs: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create, own, and manage.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Managed CMKs: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creates and manages on your behalf for specific services.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Owned CMKs: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owns and manages for its own services.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Keys: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encrypt data directly; CMKs encrypt and decrypt Data Keys.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Envelope Encryption: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Encrypting data with a Data Key, then encrypting the Data Key with a CMK. 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326E676-45FD-428C-9B5B-38F71EA7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84" y="241300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51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2E43-7C63-4A00-9932-BBA9EF1C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Access: Key Policies &amp; Grants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33BC50-0D05-4308-8F90-044F0ECF31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434487"/>
            <a:ext cx="91775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Policies: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who can use a CMK and how (e.g., allow specific IAM users/roles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encrypt/decrypt).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IAM Policies: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used in conjunction with key policies to grant permissions.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temporary or specific permissions to a CMK for a particular operation. 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A6F3C66C-F241-4C2F-BA71-0541FEF85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84" y="241300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651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FC25-EAF9-4909-AE1A-6C6D1C1C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Pervasive Security: KMS Across AWS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2BBE52-3589-4EA1-96BE-79020B8FD8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1038726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S3 Encryption: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 objects at rest (SSE-KMS).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EBS Encryption: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 EC2 volumes.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RDS Encryption: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 database instances.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Secrets Manager: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Encrypts stored secrets.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Environment Variables: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encrypted using KMS.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Application Encryption: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Direct API calls to encrypt/decrypt data within your applications. 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6806A87-1C9A-4FDC-8E09-4A6932F76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84" y="241300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327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011E-7F69-4EA3-963F-11878ED8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KMS Key Types &amp; Hierarchy</a:t>
            </a:r>
          </a:p>
        </p:txBody>
      </p:sp>
      <p:pic>
        <p:nvPicPr>
          <p:cNvPr id="52228" name="Picture 4" descr="Understanding Encryption Key Management in Snowflake | Snowflake  Documentation">
            <a:extLst>
              <a:ext uri="{FF2B5EF4-FFF2-40B4-BE49-F238E27FC236}">
                <a16:creationId xmlns:a16="http://schemas.microsoft.com/office/drawing/2014/main" id="{8F703E2F-ABF1-4D99-8E42-87EC4F3DF7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035" y="2268028"/>
            <a:ext cx="5930648" cy="41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4206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DBFD-1CCC-41D9-8430-FD99EA98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Secure Key Management &amp; Auditing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1F4534-1E6F-4EF9-86B5-8DA3A2952C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1015233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 of Least Privilege: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Grant only necessary permissions to CMKs.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Rotation: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automatic rotation for customer-managed CMKs.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CloudTrail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Audit all API calls made to KMS for compliance and security monitoring.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Multi-Region Keys: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disaster recovery and multi-region deployments.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Separation of Duties: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roles for key administrators and key users. 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03F84DF4-435B-4D1D-89A6-888F8D1AD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84" y="241300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656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7F2E76EE-5D91-4BE4-BF4E-D6AAABDDB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CD7E7584-DD2E-4C84-B7B9-73545F236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256" y="1225118"/>
            <a:ext cx="3368042" cy="364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D7E6EFFD-4719-419A-BF92-EEA1DE5AB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016" y="1431726"/>
            <a:ext cx="3368042" cy="336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CEA0DB-3782-4610-BD8B-EA637FD90ACB}"/>
              </a:ext>
            </a:extLst>
          </p:cNvPr>
          <p:cNvSpPr/>
          <p:nvPr/>
        </p:nvSpPr>
        <p:spPr>
          <a:xfrm>
            <a:off x="1318941" y="5758321"/>
            <a:ext cx="9680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Algerian" panose="04020705040A02060702" pitchFamily="82" charset="0"/>
              </a:rPr>
              <a:t>AWS SQS &amp; Amazon MQ (Messaging &amp; Queuing)</a:t>
            </a:r>
          </a:p>
        </p:txBody>
      </p:sp>
    </p:spTree>
    <p:extLst>
      <p:ext uri="{BB962C8B-B14F-4D97-AF65-F5344CB8AC3E}">
        <p14:creationId xmlns:p14="http://schemas.microsoft.com/office/powerpoint/2010/main" val="2194403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E1E7-33EC-41BE-BCAF-3AEA78B4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Messaging &amp; Queuing: Decoupling 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EEF5E5-EDB6-4D04-91A4-134E16C09C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603492"/>
            <a:ext cx="104858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 (SQS):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fully managed message queuing service that enables you to decouple and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scale microservices, distributed systems, and serverless applications.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 (Amazon MQ):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managed message broker service for Apache ActiveMQ and RabbitMQ,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making it easy to set up and operate message brokers in the cloud.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Decoupling: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Allow components to communicate without direct dependencies.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Absorb spikes in traffic and process messages asynchronously.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messages until they are processed successfully.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SQS is "queue as a service", Amazon MQ is "broker as a service".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C087E8E-A2B7-4053-810E-54B9148B6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366" y="145094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E1C9F722-0A09-43B5-B91E-D61AC1F07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9816" y="145094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76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9DA9-7716-4178-B9EA-406B9608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SQS: Simple, Scalable, &amp; Reliable Queues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7E54A18-4F05-4463-A25B-EFEAF7F09D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326492"/>
            <a:ext cx="91178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Queues: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throughput, best-effort ordering, at-least-once delivery.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Almost unlimited throughput.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FIFO (First-In, First-Out) Queues: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 message ordering, exactly-once processing.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throughput compared to Standard queues.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Visibility Timeout: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Prevents multiple consumers from processing the same message.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Dead-Letter Queues (DLQs):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messages that cannot be processed successfully.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 Retention: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Configurable duration messages stay in the queue.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Polling: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cost and increases efficiency by waiting for messages.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8725A6C2-809D-4CD8-914C-27F4B5CBB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372" y="168676"/>
            <a:ext cx="933450" cy="10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759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D6F0D-09CC-44CE-A064-7021F856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AWS SQS WORKS</a:t>
            </a:r>
          </a:p>
        </p:txBody>
      </p:sp>
      <p:pic>
        <p:nvPicPr>
          <p:cNvPr id="53250" name="Picture 2" descr="AWS SQS: The Ultimate Decoupling Solution | by Balvinder Singh | Towards AWS">
            <a:extLst>
              <a:ext uri="{FF2B5EF4-FFF2-40B4-BE49-F238E27FC236}">
                <a16:creationId xmlns:a16="http://schemas.microsoft.com/office/drawing/2014/main" id="{DDF5323B-6FDC-43F1-A602-716E1F627E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967" y="2237173"/>
            <a:ext cx="6325463" cy="378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03D01548-2AA7-4881-B358-832C9AFF1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1372" y="168676"/>
            <a:ext cx="933450" cy="102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057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9455-BCE8-42C0-B9A9-D5A74650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MQ: Managed Message Brokers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A9584D-E22B-43EE-8C22-41B4BCB9E0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98828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Managed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handles provisioning, patching, backups, and monitoring.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Open Standard APIs: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Apache ActiveMQ and RabbitMQ.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applications that rely on standard messaging protocols (JMS, NMS, AMQP,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STOMP, MQTT,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OpenWire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need a managed broker.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 from SQS: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SQS is a raw queuing service; MQ provides a full message broker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more complex routing and protocol support. 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E0835500-204A-4E2D-B7AF-CC96B9058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401" y="153972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412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233D-B8A7-47EF-8CAC-C186EBF4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MQ: Broker as a Service</a:t>
            </a:r>
            <a:endParaRPr lang="en-IN" dirty="0"/>
          </a:p>
        </p:txBody>
      </p:sp>
      <p:pic>
        <p:nvPicPr>
          <p:cNvPr id="54274" name="Picture 2" descr="Deployment options for Amazon MQ for ActiveMQ brokers - Amazon MQ">
            <a:extLst>
              <a:ext uri="{FF2B5EF4-FFF2-40B4-BE49-F238E27FC236}">
                <a16:creationId xmlns:a16="http://schemas.microsoft.com/office/drawing/2014/main" id="{374DFC9D-B737-4B0C-9528-09E2FBD54C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732" y="2343705"/>
            <a:ext cx="4826437" cy="367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9251E800-4590-49C2-8853-47354C981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401" y="153972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0486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2576-B5EA-4DEB-AA00-148641BE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SQS &amp; Amazon MQ Common Use Cases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6685C1-49F3-44E7-85A5-F403ED292D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91"/>
            <a:ext cx="102504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Queues: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Distribute tasks among multiple workers (e.g., image processing, video encoding).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Processing: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Decouple order placement from fulfillment.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Event-Driven Architectures: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microservices asynchronously.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Buffering: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Ingest high volumes of data to be processed later.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Legacy Application Integration (MQ):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Migrate existing applications to the cloud without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rewriting messaging logic.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AAD4445-06A6-4678-9FCE-584E45801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366" y="145094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2E9034C3-DC26-4966-A33C-0239021E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9816" y="145094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648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3574-46D1-4821-9E50-11E65BCC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SQS &amp; Amazon MQ Best Practices &amp; Considerations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0351EF-CFB8-4FA6-AF10-75CBC48C64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91"/>
            <a:ext cx="994701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 Size Limits: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 aware of limits for both services.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robust error handling and DLQs.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CloudWatch for queue depth, message counts, and consumer health.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IAM policies for SQS access; manage network access for Amazon MQ brokers.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the Right Service: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SQS for simple, highly scalable queues; MQ for complex routing,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protocols, or lift-and-shift.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14E5903-9464-4D12-B539-211EC5F0D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366" y="145094"/>
            <a:ext cx="933450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74EBBEF6-9842-4192-A1AC-EB4ECA5AE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9816" y="145094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631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EF0FA8AA-ED93-4AD1-800F-18F0359AD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4619D6B1-8061-4875-B238-2EB19DB67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792" y="1196482"/>
            <a:ext cx="4199138" cy="4208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C54A0E-93E4-4E83-AB5F-4E59C14573CB}"/>
              </a:ext>
            </a:extLst>
          </p:cNvPr>
          <p:cNvSpPr/>
          <p:nvPr/>
        </p:nvSpPr>
        <p:spPr>
          <a:xfrm>
            <a:off x="0" y="5529926"/>
            <a:ext cx="127927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Algerian" panose="04020705040A02060702" pitchFamily="82" charset="0"/>
              </a:rPr>
              <a:t>AWS Secrets Manager (Centralized</a:t>
            </a:r>
            <a:br>
              <a:rPr lang="en-US" sz="3200" b="1" dirty="0">
                <a:latin typeface="Algerian" panose="04020705040A02060702" pitchFamily="82" charset="0"/>
              </a:rPr>
            </a:br>
            <a:r>
              <a:rPr lang="en-US" sz="3200" b="1" dirty="0">
                <a:latin typeface="Algerian" panose="04020705040A02060702" pitchFamily="82" charset="0"/>
              </a:rPr>
              <a:t> Credential Handling)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532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E5F9-48E4-42D6-9A58-8B1433E8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Secrets Manager: Securely Store &amp; Rotate Credentials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D7B2F2-8328-4371-AA4F-636986C634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1029006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service that helps you protect access to your applications, services, and IT resources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rotating, managing, and retrieving database credentials, API keys, and other secrets throughout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their lifecycle.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 hardcoded credentials in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secret rotation, reducing the risk of compromised secrets.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centralized management and auditing of secrets.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other AWS services (RDS, Redshift,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Lambda).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Automates rotation of secrets. 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83A80038-84D3-4555-A677-2DCA5156F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51" y="205435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729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F682-3EFB-4361-94FD-80F9AF38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Lifecycle: Store, Retrieve, &amp; Rotate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0BCDFD-7EDE-41CA-9E08-D4FE0A598C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1063945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 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Encrypts secrets at rest using AWS KMS.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 Retrieval: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Applications retrieve secrets at runtime via API calls, eliminating hardcoding.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Rotation: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with Lambda functions for automated rotation of database credentials.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Maintains different versions of secrets.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Cross-Account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Share secrets securely across AWS accounts. 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75F4D6CF-7E2E-405E-A929-5ADCADFE8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51" y="205435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543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1178-7027-494B-BCA0-2B1DE7F4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Protecting Your Credentials: Security &amp; Compliance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08C59E-1E68-4D82-A090-650EEAB3E7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995131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KMS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All secrets are encrypted with KMS CMKs.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IAM Policies: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 who can access and manage secrets.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Resource-Based Policies: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Grant specific permissions on a secret.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CloudTrail: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Logs all API calls for auditing secret access and modifications.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AWS services: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credential management for supported databases. 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E43FDBB7-971F-4BE4-B751-C46D1CE6B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51" y="205435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03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7D3B-082E-41DC-80EC-494D3D22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Use Secrets Manager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DF8DE0-FDCF-44DB-827F-EFA37CE42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779251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Credentials: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 passwords for RDS, Redshift, etc.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Keys: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and rotate API keys for third-party services.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Credentials: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credentials for internal services.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Master User Passwords: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Securely manage privileged access.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SSH Keys: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and manage SSH keys for instances. 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62DF779E-B761-4291-A17A-5F0DD89D6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51" y="205435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327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0469-1B31-43B7-8947-A6206EF5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Secrets Manager Works &amp; Key Features</a:t>
            </a:r>
            <a:endParaRPr lang="en-IN" dirty="0"/>
          </a:p>
        </p:txBody>
      </p:sp>
      <p:pic>
        <p:nvPicPr>
          <p:cNvPr id="55298" name="Picture 2" descr="AWS Secrets Manager : All you need to know about">
            <a:extLst>
              <a:ext uri="{FF2B5EF4-FFF2-40B4-BE49-F238E27FC236}">
                <a16:creationId xmlns:a16="http://schemas.microsoft.com/office/drawing/2014/main" id="{A597AF64-532F-4E73-8DB9-6BA68C2640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361461"/>
            <a:ext cx="9432731" cy="364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294AC012-5A32-493A-8EF6-4306E2BA1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51" y="205435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982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39F2-760D-4B2D-AE66-C6B8F844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Implementing Robust Secret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F28800-122A-4813-8391-1E88FC3548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97760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Don't Hardcode!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primary rule.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Rotation: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Leverage built-in rotation for maximum security.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Privilege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grant necessary permissions to retrieve specific secrets.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Caching Secrets: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client-side caching where appropriate to reduce API calls and latency.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Regularly review CloudTrail logs for unusual secret access.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Secrets per Environment: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Isolate production secrets from dev/test. </a:t>
            </a:r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621D0847-4432-44C6-BC8D-302708C79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351" y="205435"/>
            <a:ext cx="94297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483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6B77C6BE-5E72-453B-BAA7-D98710D7E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>
            <a:extLst>
              <a:ext uri="{FF2B5EF4-FFF2-40B4-BE49-F238E27FC236}">
                <a16:creationId xmlns:a16="http://schemas.microsoft.com/office/drawing/2014/main" id="{76C4E2BB-5CBB-4D49-A837-D5B5FF4C5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472" y="1180731"/>
            <a:ext cx="5050461" cy="430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CDB7D7-6376-4457-94CC-EDC0EB420BFA}"/>
              </a:ext>
            </a:extLst>
          </p:cNvPr>
          <p:cNvSpPr/>
          <p:nvPr/>
        </p:nvSpPr>
        <p:spPr>
          <a:xfrm>
            <a:off x="2243876" y="5758321"/>
            <a:ext cx="80393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Algerian" panose="04020705040A02060702" pitchFamily="82" charset="0"/>
              </a:rPr>
              <a:t>AWS Web Application Firewall (WAF)</a:t>
            </a:r>
            <a:endParaRPr lang="en-IN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063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CAFC-305C-492F-925A-80A31D7F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WAF: Protecting Your Web Applications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779F60-4919-4D62-A549-321C64D40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966168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web application firewall that helps protect your web applications or APIs from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 web exploits and bots that may affect availability, compromise security, or consume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excessive resources.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 malicious traffic before it reaches your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 against common attacks (SQL Injection, Cross-Site Scripting).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access based on IP, geo-location, HTTP headers.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Mitigate bot traffic.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at the application layer (Layer 7). 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4662F9AE-803D-42D3-9C8C-5555EE31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555" y="164855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711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5FC0-2707-44FA-8729-49B0CF20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 Deployment: Protecting Your Edge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70D6DB-0C16-48A9-960F-94F77414CD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464992"/>
            <a:ext cx="1019067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ACLs (Access Control Lists):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Collections of rules that define how to inspect web requests.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Conditions that WAF evaluates (e.g., IP address, HTTP headers, URI strings).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Block, Allow, Count (for monitoring).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CloudFront (for global distribution)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Load Balancer (ALB)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API Gateway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AppSync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Managed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Pre-configured rulesets by AWS or third-party sellers. 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32901CEE-80EF-4844-BF50-4C95FA71E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555" y="164855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003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E7C0-EEB2-47C0-B26E-9C474B3A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Granular Control: Crafting Your WAF Rules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E693D2-65D1-43C9-8330-AF3EE6B085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326493"/>
            <a:ext cx="951100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Set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Block/allow specific IP addresses or ranges.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and block SQL injection attempts.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XSS (Cross-Site Scripting)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and block XSS attacks.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 Constraint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 requests based on size of parts (e.g., header, query string).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Regex Match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regular expressions for complex pattern matching.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Managed Rule Groups: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Managed Rule Groups: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 vulnerabilities, known bad IPs, bot control.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Marketplace Managed Rule Groups: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security vendors.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991B6421-37F6-4A83-9D96-64CFD30BD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555" y="164855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233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C23-498F-4FD0-A8A6-B0CF9D4E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Seeing Your Protections in Action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98DCE4-A2E4-4C13-8184-18261D81D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572986"/>
            <a:ext cx="97502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CloudWatch Metrics: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blocked/allowed requests, rule matches.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CloudWatch Logs (Full Logs):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information about each request that WAF inspects.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Firewall Manager: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Centrally manage WAF rules across multiple accounts/resources. 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2E3E78C6-D757-46AF-9281-9157EC11D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555" y="164855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458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DB63-93FF-4B4A-85AB-77001067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WAF Works &amp; Integration Points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749B-5F35-4F10-BC0C-706B2ED05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6322" name="Picture 2" descr="Improving website performance and security for E-Commerce">
            <a:extLst>
              <a:ext uri="{FF2B5EF4-FFF2-40B4-BE49-F238E27FC236}">
                <a16:creationId xmlns:a16="http://schemas.microsoft.com/office/drawing/2014/main" id="{60F5826A-11CD-4CF9-963E-2C3EE8560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060" y="2423604"/>
            <a:ext cx="9676660" cy="399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>
            <a:extLst>
              <a:ext uri="{FF2B5EF4-FFF2-40B4-BE49-F238E27FC236}">
                <a16:creationId xmlns:a16="http://schemas.microsoft.com/office/drawing/2014/main" id="{A5D1DC7A-3E55-489F-A1F8-C017CAEEF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555" y="164855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542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AFC3-2FD3-4D90-81CD-5A18CD38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Effective WAF Deployment &amp;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0AD349-CC38-44FB-87E5-7C6F1659AD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603492"/>
            <a:ext cx="99182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"Count" 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rules in "count" mode before blocking to avoid false positives.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Managed and Custom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Leverage AWS/marketplace rules, then add specific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 rules.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Geo-Blocking: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 traffic from unwanted regions.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Rate-Based Rules: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Mitigate DDoS attacks by limiting requests from suspicious IPs.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Review: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 rules based on new threats and application changes.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WAF Logs: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logs for insights into attack patterns. 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765A0B73-79FC-4705-AC60-2D4902844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555" y="164855"/>
            <a:ext cx="846167" cy="976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7048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44208BC4-6FD5-403E-A05D-37A8BED4D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8">
            <a:extLst>
              <a:ext uri="{FF2B5EF4-FFF2-40B4-BE49-F238E27FC236}">
                <a16:creationId xmlns:a16="http://schemas.microsoft.com/office/drawing/2014/main" id="{179F42E2-D75D-41F6-A357-ECB767713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210" y="918384"/>
            <a:ext cx="5089160" cy="492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4F96842-5CAB-4188-88AF-710869EB61CF}"/>
              </a:ext>
            </a:extLst>
          </p:cNvPr>
          <p:cNvSpPr/>
          <p:nvPr/>
        </p:nvSpPr>
        <p:spPr>
          <a:xfrm>
            <a:off x="1962357" y="5845491"/>
            <a:ext cx="88328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sz="3200" b="1" dirty="0">
                <a:latin typeface="Algerian" panose="04020705040A02060702" pitchFamily="82" charset="0"/>
              </a:rPr>
              <a:t>AWS Systems Manager Parameter Store</a:t>
            </a:r>
          </a:p>
        </p:txBody>
      </p:sp>
    </p:spTree>
    <p:extLst>
      <p:ext uri="{BB962C8B-B14F-4D97-AF65-F5344CB8AC3E}">
        <p14:creationId xmlns:p14="http://schemas.microsoft.com/office/powerpoint/2010/main" val="8407626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F714-F8FF-40D2-8655-EDC9F2B7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Systems Manager Parameter Store: Secure Configuration Management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855E04-BCD3-4401-8668-D2CF6E1637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90"/>
            <a:ext cx="995137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capability of AWS Systems Manager that provides secure, hierarchical storage for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configuration data management and secrets management.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configuration data (e.g., database strings, API keys, feature flags) separately from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 access to parameters for applications and scripts.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other AWS services for dynamic configurations.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versioning and change notifications.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Free to use (within limits), supports plain text and encrypted parameters. 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6C143228-0D69-404E-AF62-A2F95E0E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762" y="251612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753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5ACB-3355-4287-8103-A8E6DFD3A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Storing &amp; Retrieving Parameters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42F5DE-221C-4FF0-B770-9940CD1C4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880489"/>
            <a:ext cx="748474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Key-value pairs.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Hierarchy: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Organize parameters using paths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(e.g., /prod/app1/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db_url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 Types: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Plain text.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StringList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Comma-separated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SecureString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Encrypted using KMS.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 changes to parameters.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with SNS for changes. 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775B34F1-9DF8-43D8-81A2-E3F34A408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762" y="251612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7210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35E7-1935-4133-918B-C3AC01D3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Store vs. Secrets Manager: Choosing the Right Tool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25C93E-1757-484B-ABAA-FAF1E2F586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603491"/>
            <a:ext cx="929780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 Store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SecureString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for non-rotatable secrets, configuration data, feature flags.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or custom rotation.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(within limits).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Secrets Manager: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for automatically rotatable credentials (e.g., database passwords).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integration for automated rotation.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associated per secret and per API call.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 of Thumb: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it needs automated rotation, use Secrets Manager. If it's configuration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a secret that rarely changes/doesn't need automated rotation, use Parameter Store. 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4013B724-0B12-41F8-80B6-3446C4438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762" y="251612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7482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5F4E-4955-4C2D-AD2E-67A5F114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Configuration Across Your Stack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AD9DD2-B1BA-47CB-AE41-CA26A583E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3018990"/>
            <a:ext cx="765145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Lambda Functions: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 environment variables at runtime.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EC2 Instances: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in user data scripts or via SSM Agent.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Containerized Applications: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Inject parameters into ECS/EKS tasks.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CI/CD Pipelines: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pipeline variables or sensitive build parameters.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Flags: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feature toggles that can be updated dynamically. 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057E429E-6F21-43D6-AA4B-7ED54AC58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762" y="251612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4251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3784-7956-48AB-A5BA-862F482CD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Parameter Store Works &amp; Parameter Types</a:t>
            </a:r>
            <a:endParaRPr lang="en-IN" dirty="0"/>
          </a:p>
        </p:txBody>
      </p:sp>
      <p:pic>
        <p:nvPicPr>
          <p:cNvPr id="57346" name="Picture 2" descr="AWS Parameter Store | Joud W. Awad | Medium">
            <a:extLst>
              <a:ext uri="{FF2B5EF4-FFF2-40B4-BE49-F238E27FC236}">
                <a16:creationId xmlns:a16="http://schemas.microsoft.com/office/drawing/2014/main" id="{FFBD54CD-E9E6-4DEA-8880-012CAB195E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7386" y="2603500"/>
            <a:ext cx="4778041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8">
            <a:extLst>
              <a:ext uri="{FF2B5EF4-FFF2-40B4-BE49-F238E27FC236}">
                <a16:creationId xmlns:a16="http://schemas.microsoft.com/office/drawing/2014/main" id="{E9558C62-9F6B-4599-935A-18CF4D17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762" y="251612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8099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2619-77D1-4F99-93F0-70D51A785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Efficient &amp; Secure Parameter Management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05EE2D-0EAB-479E-ACCC-C4D17F5636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741991"/>
            <a:ext cx="946823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Hierarchies: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Organize parameters logically for clarity and access control.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 Sensitive Data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SecureString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Always use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SecureString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credentials.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Privilege: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Grant specific IAM permissions to access only needed parameters.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Leverage automatic versioning for rollbacks.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 caching in your applications to reduce API calls if reading frequently.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Usage: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 access patterns and changes via CloudTrail. </a:t>
            </a:r>
          </a:p>
        </p:txBody>
      </p:sp>
      <p:pic>
        <p:nvPicPr>
          <p:cNvPr id="6" name="Picture 18">
            <a:extLst>
              <a:ext uri="{FF2B5EF4-FFF2-40B4-BE49-F238E27FC236}">
                <a16:creationId xmlns:a16="http://schemas.microsoft.com/office/drawing/2014/main" id="{154A29D1-EF18-47BB-AFC3-457381178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762" y="251612"/>
            <a:ext cx="914400" cy="117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797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D1BA659C-56B1-4808-B659-7C320733E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BA0115-05E4-4B3A-A1D0-E609F23F0DD2}"/>
              </a:ext>
            </a:extLst>
          </p:cNvPr>
          <p:cNvSpPr/>
          <p:nvPr/>
        </p:nvSpPr>
        <p:spPr>
          <a:xfrm>
            <a:off x="3716983" y="2967335"/>
            <a:ext cx="475803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7903965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7309-EF4C-40A0-9F5E-0834FAE8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Building Resilient &amp; Secure Architectures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27693D-A742-48A1-89B9-058E4A2EB2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5" y="2603492"/>
            <a:ext cx="90964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services provide foundational building blocks for modern cloud applications.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the purpose and features of each service is crucial for effective design.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(IAM, KMS, WAF, Secrets Manager) is paramount and integrated.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Decoupling with messaging (SQS, MQ) enhances scalability and resilience.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configuration (Parameter Store) improves manageability.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learning and hands-on experience are key! </a:t>
            </a:r>
          </a:p>
        </p:txBody>
      </p:sp>
      <p:pic>
        <p:nvPicPr>
          <p:cNvPr id="5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7041365F-FAF3-4463-B5CF-4472C43FC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4347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EB4B5E-DBC5-47B3-A137-48ECE495D104}"/>
              </a:ext>
            </a:extLst>
          </p:cNvPr>
          <p:cNvSpPr/>
          <p:nvPr/>
        </p:nvSpPr>
        <p:spPr>
          <a:xfrm>
            <a:off x="2206954" y="2967335"/>
            <a:ext cx="77780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/>
              <a:t>Questions &amp; Discussion</a:t>
            </a:r>
          </a:p>
        </p:txBody>
      </p:sp>
      <p:pic>
        <p:nvPicPr>
          <p:cNvPr id="5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8498FD7A-CBB0-4C3A-B7CF-1807453B8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707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87154-7C7B-4753-8C14-E4C7A535A65E}"/>
              </a:ext>
            </a:extLst>
          </p:cNvPr>
          <p:cNvSpPr/>
          <p:nvPr/>
        </p:nvSpPr>
        <p:spPr>
          <a:xfrm>
            <a:off x="3469919" y="2967335"/>
            <a:ext cx="428867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3" name="Picture 20" descr="Download Amazon Web Services (AWS) Logo in SVG Vector or PNG ...">
            <a:extLst>
              <a:ext uri="{FF2B5EF4-FFF2-40B4-BE49-F238E27FC236}">
                <a16:creationId xmlns:a16="http://schemas.microsoft.com/office/drawing/2014/main" id="{01B94EAA-1456-4899-BB3A-E1ADAB2F5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3256" y="514904"/>
            <a:ext cx="1023937" cy="55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715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156</TotalTime>
  <Words>3174</Words>
  <Application>Microsoft Office PowerPoint</Application>
  <PresentationFormat>Widescreen</PresentationFormat>
  <Paragraphs>292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Algerian</vt:lpstr>
      <vt:lpstr>Arial</vt:lpstr>
      <vt:lpstr>Century Gothic</vt:lpstr>
      <vt:lpstr>Wingdings 3</vt:lpstr>
      <vt:lpstr>Ion Boardroom</vt:lpstr>
      <vt:lpstr>Essential AWS Services</vt:lpstr>
      <vt:lpstr>AGENDA</vt:lpstr>
      <vt:lpstr>AWS Lambda: Serverless Compute  </vt:lpstr>
      <vt:lpstr>AWS Lambda: Event-Driven Serverless Compute</vt:lpstr>
      <vt:lpstr>Lambda in Action: Events, Functions, &amp; Runtimes</vt:lpstr>
      <vt:lpstr>Customizing Lambda: Configuration Options</vt:lpstr>
      <vt:lpstr>Versatile Workloads: Where Lambda Shines</vt:lpstr>
      <vt:lpstr>How Lambda Works &amp; Key Concepts</vt:lpstr>
      <vt:lpstr>Optimizing Lambda: Performance &amp; Cost</vt:lpstr>
      <vt:lpstr>PowerPoint Presentation</vt:lpstr>
      <vt:lpstr>AWS API Gateway: The Front Door to Your Applications</vt:lpstr>
      <vt:lpstr>Diverse APIs: REST, HTTP, and WebSocket</vt:lpstr>
      <vt:lpstr>Securing &amp; Observing Your APIs</vt:lpstr>
      <vt:lpstr>Empowering Modern Application Architectures</vt:lpstr>
      <vt:lpstr>HOW API Gateway WORKS</vt:lpstr>
      <vt:lpstr>Designing Robust &amp; Scalable APIs</vt:lpstr>
      <vt:lpstr>PowerPoint Presentation</vt:lpstr>
      <vt:lpstr>AWS KMS: Centralized Cryptographic Key Management</vt:lpstr>
      <vt:lpstr>Understanding KMS Keys: CMKs, Data Keys &amp; Envelope Encryption</vt:lpstr>
      <vt:lpstr>Controlling Access: Key Policies &amp; Grants</vt:lpstr>
      <vt:lpstr>Pervasive Security: KMS Across AWS</vt:lpstr>
      <vt:lpstr>KMS Key Types &amp; Hierarchy</vt:lpstr>
      <vt:lpstr>Secure Key Management &amp; Auditing</vt:lpstr>
      <vt:lpstr>PowerPoint Presentation</vt:lpstr>
      <vt:lpstr>Messaging &amp; Queuing: Decoupling Applications</vt:lpstr>
      <vt:lpstr>SQS: Simple, Scalable, &amp; Reliable Queues</vt:lpstr>
      <vt:lpstr>HOW AWS SQS WORKS</vt:lpstr>
      <vt:lpstr>Amazon MQ: Managed Message Brokers</vt:lpstr>
      <vt:lpstr>Amazon MQ: Broker as a Service</vt:lpstr>
      <vt:lpstr>SQS &amp; Amazon MQ Common Use Cases</vt:lpstr>
      <vt:lpstr>SQS &amp; Amazon MQ Best Practices &amp; Considerations</vt:lpstr>
      <vt:lpstr>PowerPoint Presentation</vt:lpstr>
      <vt:lpstr>AWS Secrets Manager: Securely Store &amp; Rotate Credentials</vt:lpstr>
      <vt:lpstr>Secret Lifecycle: Store, Retrieve, &amp; Rotate</vt:lpstr>
      <vt:lpstr>Protecting Your Credentials: Security &amp; Compliance</vt:lpstr>
      <vt:lpstr>Where to Use Secrets Manager</vt:lpstr>
      <vt:lpstr>How Secrets Manager Works &amp; Key Features</vt:lpstr>
      <vt:lpstr>Implementing Robust Secret Management</vt:lpstr>
      <vt:lpstr>PowerPoint Presentation</vt:lpstr>
      <vt:lpstr>AWS WAF: Protecting Your Web Applications</vt:lpstr>
      <vt:lpstr>WAF Deployment: Protecting Your Edge</vt:lpstr>
      <vt:lpstr>Granular Control: Crafting Your WAF Rules</vt:lpstr>
      <vt:lpstr>Seeing Your Protections in Action</vt:lpstr>
      <vt:lpstr>How WAF Works &amp; Integration Points</vt:lpstr>
      <vt:lpstr>Effective WAF Deployment &amp; Management</vt:lpstr>
      <vt:lpstr>PowerPoint Presentation</vt:lpstr>
      <vt:lpstr>AWS Systems Manager Parameter Store: Secure Configuration Management</vt:lpstr>
      <vt:lpstr>Storing &amp; Retrieving Parameters</vt:lpstr>
      <vt:lpstr>Parameter Store vs. Secrets Manager: Choosing the Right Tool</vt:lpstr>
      <vt:lpstr>Dynamic Configuration Across Your Stack</vt:lpstr>
      <vt:lpstr>How Parameter Store Works &amp; Parameter Types</vt:lpstr>
      <vt:lpstr>Efficient &amp; Secure Parameter Management</vt:lpstr>
      <vt:lpstr>PowerPoint Presentation</vt:lpstr>
      <vt:lpstr>Building Resilient &amp; Secure Architectures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 AWS Services</dc:title>
  <dc:creator>Windows User</dc:creator>
  <cp:lastModifiedBy>Windows User</cp:lastModifiedBy>
  <cp:revision>13</cp:revision>
  <dcterms:created xsi:type="dcterms:W3CDTF">2025-06-08T10:19:05Z</dcterms:created>
  <dcterms:modified xsi:type="dcterms:W3CDTF">2025-06-08T12:55:58Z</dcterms:modified>
</cp:coreProperties>
</file>